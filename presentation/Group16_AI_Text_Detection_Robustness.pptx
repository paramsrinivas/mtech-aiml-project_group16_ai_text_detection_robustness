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7" roundtripDataSignature="AMtx7miSn7UrR7k1yksTVHeKVujZD3Zjv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02CA814-B59B-4A1F-B5DF-EC5B295B65B0}">
  <a:tblStyle styleId="{C02CA814-B59B-4A1F-B5DF-EC5B295B65B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34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r>
              <a:rPr sz="1700">
                <a:solidFill>
                  <a:srgbClr val="46505F"/>
                </a:solidFill>
              </a:rPr>
              <a:t>Assignment 16 | 11 October 2026</a:t>
            </a:r>
          </a:p>
        </p:txBody>
      </p:sp>
      <p:sp>
        <p:nvSpPr>
          <p:cNvPr id="85" name="Google Shape;85;p1"/>
          <p:cNvSpPr txBox="1"/>
          <p:nvPr/>
        </p:nvSpPr>
        <p:spPr>
          <a:xfrm>
            <a:off x="822960" y="960120"/>
            <a:ext cx="10515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300"/>
              <a:t>AI26501 • MODERN AI ASSIGNMENTS • GROUP 16</a:t>
            </a:r>
          </a:p>
        </p:txBody>
      </p:sp>
      <p:sp>
        <p:nvSpPr>
          <p:cNvPr id="86" name="Google Shape;86;p1"/>
          <p:cNvSpPr txBox="1"/>
          <p:nvPr/>
        </p:nvSpPr>
        <p:spPr>
          <a:xfrm>
            <a:off x="822960" y="1645920"/>
            <a:ext cx="1033272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Robustness of AI-Text Detection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Under Text Editing and Paraphrasing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841248" y="3703320"/>
            <a:ext cx="987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200">
                <a:solidFill>
                  <a:srgbClr val="46505F"/>
                </a:solidFill>
              </a:rPr>
              <a:t>HC3 • TF–IDF + LinearSVC • Controlled robustness evaluation</a:t>
            </a:r>
          </a:p>
        </p:txBody>
      </p:sp>
      <p:sp>
        <p:nvSpPr>
          <p:cNvPr id="88" name="Google Shape;88;p1"/>
          <p:cNvSpPr txBox="1"/>
          <p:nvPr/>
        </p:nvSpPr>
        <p:spPr>
          <a:xfrm>
            <a:off x="841248" y="4709160"/>
            <a:ext cx="987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841248" y="6172200"/>
            <a:ext cx="10058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1. Real-world problem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Why robustness matters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731520" y="1417320"/>
            <a:ext cx="64008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AI-generated text can be lightly edited or paraphrased before publication.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A detector that performs well on untouched text may rely on surface patterns rather than stable signals.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False positives can wrongly label human writing; false negatives can let AI-generated text pass undetected.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This experiment tests one classical text classifier under controlled text transformations.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7772400" y="1600200"/>
            <a:ext cx="3108960" cy="118872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00919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7863840" y="1691640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3 conditions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7863840" y="2167128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Original • Surface edit • Paraphrase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7772400" y="3154680"/>
            <a:ext cx="3108960" cy="118872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DC82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7863840" y="3246120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300 pairs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7863840" y="3721608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Held-out question topics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7772400" y="4709160"/>
            <a:ext cx="3108960" cy="118872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3264B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7863840" y="4800600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3264B4"/>
                </a:solidFill>
                <a:latin typeface="Arial"/>
                <a:ea typeface="Arial"/>
                <a:cs typeface="Arial"/>
                <a:sym typeface="Arial"/>
              </a:rPr>
              <a:t>600 texts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7863840" y="5276088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Per condition: 300 human + 300 AI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530352" y="6547104"/>
            <a:ext cx="914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2. Research question &amp; hypotheses</a:t>
            </a:r>
            <a:endParaRPr/>
          </a:p>
        </p:txBody>
      </p:sp>
      <p:sp>
        <p:nvSpPr>
          <p:cNvPr id="114" name="Google Shape;114;p3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777240" y="14173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Research question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777240" y="1828800"/>
            <a:ext cx="10515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How much does AI-text detection change when AI-generated passages are surface-edited or paraphrased?</a:t>
            </a:r>
            <a:endParaRPr/>
          </a:p>
        </p:txBody>
      </p:sp>
      <p:sp>
        <p:nvSpPr>
          <p:cNvPr id="117" name="Google Shape;117;p3"/>
          <p:cNvSpPr txBox="1"/>
          <p:nvPr/>
        </p:nvSpPr>
        <p:spPr>
          <a:xfrm>
            <a:off x="777240" y="306324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264B4"/>
                </a:solidFill>
                <a:latin typeface="Arial"/>
                <a:ea typeface="Arial"/>
                <a:cs typeface="Arial"/>
                <a:sym typeface="Arial"/>
              </a:rPr>
              <a:t>H1 — Surface edits</a:t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777240" y="3493008"/>
            <a:ext cx="5029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Small wording/formatting changes may have limited effect if learned patterns remain present.</a:t>
            </a:r>
            <a:endParaRPr/>
          </a:p>
        </p:txBody>
      </p:sp>
      <p:sp>
        <p:nvSpPr>
          <p:cNvPr id="119" name="Google Shape;119;p3"/>
          <p:cNvSpPr txBox="1"/>
          <p:nvPr/>
        </p:nvSpPr>
        <p:spPr>
          <a:xfrm>
            <a:off x="6263640" y="306324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H2 — Semantic paraphrase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6263640" y="3493008"/>
            <a:ext cx="5029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Rewriting sentences and structure is expected to reduce recall more than surface editing.</a:t>
            </a:r>
            <a:endParaRPr/>
          </a:p>
        </p:txBody>
      </p:sp>
      <p:sp>
        <p:nvSpPr>
          <p:cNvPr id="121" name="Google Shape;121;p3"/>
          <p:cNvSpPr txBox="1"/>
          <p:nvPr/>
        </p:nvSpPr>
        <p:spPr>
          <a:xfrm>
            <a:off x="777240" y="521208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Primary outcome: AI recall. Supporting outcomes: accuracy, precision, F1-score and false positive rate.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530352" y="6547104"/>
            <a:ext cx="914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3. Dataset &amp; evaluation sample</a:t>
            </a: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777240" y="1371600"/>
            <a:ext cx="2423160" cy="109728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00919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868680" y="1463040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HC3</a:t>
            </a:r>
            <a:endParaRPr/>
          </a:p>
        </p:txBody>
      </p:sp>
      <p:sp>
        <p:nvSpPr>
          <p:cNvPr id="132" name="Google Shape;132;p4"/>
          <p:cNvSpPr txBox="1"/>
          <p:nvPr/>
        </p:nvSpPr>
        <p:spPr>
          <a:xfrm>
            <a:off x="868680" y="1938528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Human–ChatGPT Comparison Corpus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3429000" y="1371600"/>
            <a:ext cx="2423160" cy="109728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3264B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 txBox="1"/>
          <p:nvPr/>
        </p:nvSpPr>
        <p:spPr>
          <a:xfrm>
            <a:off x="3520440" y="1463040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3264B4"/>
                </a:solidFill>
                <a:latin typeface="Arial"/>
                <a:ea typeface="Arial"/>
                <a:cs typeface="Arial"/>
                <a:sym typeface="Arial"/>
              </a:rPr>
              <a:t>5 sources</a:t>
            </a:r>
            <a:endParaRPr/>
          </a:p>
        </p:txBody>
      </p:sp>
      <p:sp>
        <p:nvSpPr>
          <p:cNvPr id="135" name="Google Shape;135;p4"/>
          <p:cNvSpPr txBox="1"/>
          <p:nvPr/>
        </p:nvSpPr>
        <p:spPr>
          <a:xfrm>
            <a:off x="3520440" y="1938528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Finance, Medicine, Open QA, Reddit ELI5, Wiki CSAI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6080760" y="1371600"/>
            <a:ext cx="2423160" cy="109728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DC82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 txBox="1"/>
          <p:nvPr/>
        </p:nvSpPr>
        <p:spPr>
          <a:xfrm>
            <a:off x="6172200" y="1463040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17,528</a:t>
            </a:r>
            <a:endParaRPr/>
          </a:p>
        </p:txBody>
      </p:sp>
      <p:sp>
        <p:nvSpPr>
          <p:cNvPr id="138" name="Google Shape;138;p4"/>
          <p:cNvSpPr txBox="1"/>
          <p:nvPr/>
        </p:nvSpPr>
        <p:spPr>
          <a:xfrm>
            <a:off x="6172200" y="1938528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Training questions</a:t>
            </a:r>
            <a:endParaRPr/>
          </a:p>
        </p:txBody>
      </p:sp>
      <p:sp>
        <p:nvSpPr>
          <p:cNvPr id="139" name="Google Shape;139;p4"/>
          <p:cNvSpPr/>
          <p:nvPr/>
        </p:nvSpPr>
        <p:spPr>
          <a:xfrm>
            <a:off x="8732520" y="1371600"/>
            <a:ext cx="2423160" cy="109728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00919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 txBox="1"/>
          <p:nvPr/>
        </p:nvSpPr>
        <p:spPr>
          <a:xfrm>
            <a:off x="8823960" y="1463040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4,383</a:t>
            </a:r>
            <a:endParaRPr/>
          </a:p>
        </p:txBody>
      </p:sp>
      <p:sp>
        <p:nvSpPr>
          <p:cNvPr id="141" name="Google Shape;141;p4"/>
          <p:cNvSpPr txBox="1"/>
          <p:nvPr/>
        </p:nvSpPr>
        <p:spPr>
          <a:xfrm>
            <a:off x="8823960" y="1938528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Held-out questions</a:t>
            </a:r>
            <a:endParaRPr/>
          </a:p>
        </p:txBody>
      </p:sp>
      <p:sp>
        <p:nvSpPr>
          <p:cNvPr id="142" name="Google Shape;142;p4"/>
          <p:cNvSpPr txBox="1"/>
          <p:nvPr/>
        </p:nvSpPr>
        <p:spPr>
          <a:xfrm>
            <a:off x="822960" y="2880360"/>
            <a:ext cx="1042416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Prepared data were deduplicated and filtered to topics containing both human and AI answers.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GroupShuffleSplit (test_size=0.20, random_state=42) grouped by topic_id to reduce train/test leakage.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Final robustness sample: 300 held-out topics, each with one human passage and one AI passage.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Each condition contains 600 passages: 300 human controls plus 300 AI texts in that condition.</a:t>
            </a:r>
            <a:endParaRPr/>
          </a:p>
        </p:txBody>
      </p:sp>
      <p:sp>
        <p:nvSpPr>
          <p:cNvPr id="143" name="Google Shape;143;p4"/>
          <p:cNvSpPr txBox="1"/>
          <p:nvPr/>
        </p:nvSpPr>
        <p:spPr>
          <a:xfrm>
            <a:off x="822960" y="58978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Source counts are uneven; Reddit ELI5 dominates the paired sample.</a:t>
            </a:r>
            <a:endParaRPr/>
          </a:p>
        </p:txBody>
      </p:sp>
      <p:sp>
        <p:nvSpPr>
          <p:cNvPr id="144" name="Google Shape;144;p4"/>
          <p:cNvSpPr txBox="1"/>
          <p:nvPr/>
        </p:nvSpPr>
        <p:spPr>
          <a:xfrm>
            <a:off x="530352" y="6547104"/>
            <a:ext cx="914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4. Methodology &amp; experimental controls</a:t>
            </a:r>
            <a:endParaRPr/>
          </a:p>
        </p:txBody>
      </p:sp>
      <p:sp>
        <p:nvSpPr>
          <p:cNvPr id="151" name="Google Shape;151;p5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5"/>
          <p:cNvSpPr/>
          <p:nvPr/>
        </p:nvSpPr>
        <p:spPr>
          <a:xfrm>
            <a:off x="502920" y="1828800"/>
            <a:ext cx="1965960" cy="182880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00919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 txBox="1"/>
          <p:nvPr/>
        </p:nvSpPr>
        <p:spPr>
          <a:xfrm>
            <a:off x="594360" y="196596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1. HC3 preparation</a:t>
            </a:r>
            <a:endParaRPr/>
          </a:p>
        </p:txBody>
      </p:sp>
      <p:sp>
        <p:nvSpPr>
          <p:cNvPr id="154" name="Google Shape;154;p5"/>
          <p:cNvSpPr txBox="1"/>
          <p:nvPr/>
        </p:nvSpPr>
        <p:spPr>
          <a:xfrm>
            <a:off x="612648" y="2487168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Deduplicate; retain matched topics</a:t>
            </a:r>
            <a:endParaRPr/>
          </a:p>
        </p:txBody>
      </p:sp>
      <p:sp>
        <p:nvSpPr>
          <p:cNvPr id="155" name="Google Shape;155;p5"/>
          <p:cNvSpPr txBox="1"/>
          <p:nvPr/>
        </p:nvSpPr>
        <p:spPr>
          <a:xfrm>
            <a:off x="2468880" y="2487168"/>
            <a:ext cx="320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56" name="Google Shape;156;p5"/>
          <p:cNvSpPr/>
          <p:nvPr/>
        </p:nvSpPr>
        <p:spPr>
          <a:xfrm>
            <a:off x="2834639" y="1828800"/>
            <a:ext cx="1965960" cy="182880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3264B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 txBox="1"/>
          <p:nvPr/>
        </p:nvSpPr>
        <p:spPr>
          <a:xfrm>
            <a:off x="2926079" y="196596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2. Grouped split</a:t>
            </a:r>
            <a:endParaRPr/>
          </a:p>
        </p:txBody>
      </p:sp>
      <p:sp>
        <p:nvSpPr>
          <p:cNvPr id="158" name="Google Shape;158;p5"/>
          <p:cNvSpPr txBox="1"/>
          <p:nvPr/>
        </p:nvSpPr>
        <p:spPr>
          <a:xfrm>
            <a:off x="2944368" y="2487168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Train/test by topic ID</a:t>
            </a:r>
            <a:endParaRPr/>
          </a:p>
        </p:txBody>
      </p:sp>
      <p:sp>
        <p:nvSpPr>
          <p:cNvPr id="159" name="Google Shape;159;p5"/>
          <p:cNvSpPr txBox="1"/>
          <p:nvPr/>
        </p:nvSpPr>
        <p:spPr>
          <a:xfrm>
            <a:off x="4800600" y="2487168"/>
            <a:ext cx="320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60" name="Google Shape;160;p5"/>
          <p:cNvSpPr/>
          <p:nvPr/>
        </p:nvSpPr>
        <p:spPr>
          <a:xfrm>
            <a:off x="5166359" y="1828800"/>
            <a:ext cx="1965960" cy="182880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DC82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 txBox="1"/>
          <p:nvPr/>
        </p:nvSpPr>
        <p:spPr>
          <a:xfrm>
            <a:off x="5257799" y="196596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3. Train detector</a:t>
            </a:r>
            <a:endParaRPr/>
          </a:p>
        </p:txBody>
      </p:sp>
      <p:sp>
        <p:nvSpPr>
          <p:cNvPr id="162" name="Google Shape;162;p5"/>
          <p:cNvSpPr txBox="1"/>
          <p:nvPr/>
        </p:nvSpPr>
        <p:spPr>
          <a:xfrm>
            <a:off x="5276088" y="2487168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TF–IDF uni/bi-grams + LinearSVC</a:t>
            </a:r>
            <a:endParaRPr/>
          </a:p>
        </p:txBody>
      </p:sp>
      <p:sp>
        <p:nvSpPr>
          <p:cNvPr id="163" name="Google Shape;163;p5"/>
          <p:cNvSpPr txBox="1"/>
          <p:nvPr/>
        </p:nvSpPr>
        <p:spPr>
          <a:xfrm>
            <a:off x="7132319" y="2487168"/>
            <a:ext cx="320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64" name="Google Shape;164;p5"/>
          <p:cNvSpPr/>
          <p:nvPr/>
        </p:nvSpPr>
        <p:spPr>
          <a:xfrm>
            <a:off x="7498079" y="1828800"/>
            <a:ext cx="1965960" cy="182880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00919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 txBox="1"/>
          <p:nvPr/>
        </p:nvSpPr>
        <p:spPr>
          <a:xfrm>
            <a:off x="7589519" y="196596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4. Transform AI text</a:t>
            </a:r>
            <a:endParaRPr/>
          </a:p>
        </p:txBody>
      </p:sp>
      <p:sp>
        <p:nvSpPr>
          <p:cNvPr id="166" name="Google Shape;166;p5"/>
          <p:cNvSpPr txBox="1"/>
          <p:nvPr/>
        </p:nvSpPr>
        <p:spPr>
          <a:xfrm>
            <a:off x="7607807" y="2487168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Surface edit or T5 paraphrase</a:t>
            </a:r>
            <a:endParaRPr/>
          </a:p>
        </p:txBody>
      </p:sp>
      <p:sp>
        <p:nvSpPr>
          <p:cNvPr id="167" name="Google Shape;167;p5"/>
          <p:cNvSpPr txBox="1"/>
          <p:nvPr/>
        </p:nvSpPr>
        <p:spPr>
          <a:xfrm>
            <a:off x="9464040" y="2487168"/>
            <a:ext cx="320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919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68" name="Google Shape;168;p5"/>
          <p:cNvSpPr/>
          <p:nvPr/>
        </p:nvSpPr>
        <p:spPr>
          <a:xfrm>
            <a:off x="9829800" y="1828800"/>
            <a:ext cx="1965960" cy="182880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3264B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9921240" y="1965960"/>
            <a:ext cx="1783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5. Paired evaluation</a:t>
            </a:r>
            <a:endParaRPr/>
          </a:p>
        </p:txBody>
      </p:sp>
      <p:sp>
        <p:nvSpPr>
          <p:cNvPr id="170" name="Google Shape;170;p5"/>
          <p:cNvSpPr txBox="1"/>
          <p:nvPr/>
        </p:nvSpPr>
        <p:spPr>
          <a:xfrm>
            <a:off x="9939528" y="2487168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Same human controls in all conditions</a:t>
            </a:r>
            <a:endParaRPr/>
          </a:p>
        </p:txBody>
      </p:sp>
      <p:sp>
        <p:nvSpPr>
          <p:cNvPr id="171" name="Google Shape;171;p5"/>
          <p:cNvSpPr txBox="1"/>
          <p:nvPr/>
        </p:nvSpPr>
        <p:spPr>
          <a:xfrm>
            <a:off x="777240" y="4069080"/>
            <a:ext cx="105156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TF–IDF word unigrams/bigrams + LinearSVC, class_weight=balanced.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Train only on original training text; edited/paraphrased text used only for held-out evaluation.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Metrics calculated on combined human + AI passages, not AI-only subsets.</a:t>
            </a:r>
            <a:endParaRPr/>
          </a:p>
        </p:txBody>
      </p:sp>
      <p:sp>
        <p:nvSpPr>
          <p:cNvPr id="172" name="Google Shape;172;p5"/>
          <p:cNvSpPr txBox="1"/>
          <p:nvPr/>
        </p:nvSpPr>
        <p:spPr>
          <a:xfrm>
            <a:off x="530352" y="6547104"/>
            <a:ext cx="914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5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5. Results: overall metrics</a:t>
            </a:r>
            <a:endParaRPr/>
          </a:p>
        </p:txBody>
      </p:sp>
      <p:sp>
        <p:nvSpPr>
          <p:cNvPr id="179" name="Google Shape;179;p6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Controlled paired comparison — 600 passages per condition</a:t>
            </a:r>
            <a:endParaRPr/>
          </a:p>
        </p:txBody>
      </p:sp>
      <p:sp>
        <p:nvSpPr>
          <p:cNvPr id="180" name="Google Shape;180;p6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2" name="Google Shape;182;p6"/>
          <p:cNvGraphicFramePr/>
          <p:nvPr/>
        </p:nvGraphicFramePr>
        <p:xfrm>
          <a:off x="7955279" y="15544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{C02CA814-B59B-4A1F-B5DF-EC5B295B65B0}</a:tableStyleId>
              </a:tblPr>
              <a:tblGrid>
                <a:gridCol w="914400"/>
                <a:gridCol w="914400"/>
                <a:gridCol w="914400"/>
                <a:gridCol w="914400"/>
              </a:tblGrid>
              <a:tr h="56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Original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Surface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Paraphrase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56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Accuracy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98.83%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98.83%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89.67%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56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AI recall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98.00%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98.00%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79.67%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56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AI F1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98.82%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98.82%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cap="none" strike="noStrike">
                          <a:solidFill>
                            <a:srgbClr val="28303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88.52%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</a:tbl>
          </a:graphicData>
        </a:graphic>
      </p:graphicFrame>
      <p:sp>
        <p:nvSpPr>
          <p:cNvPr id="183" name="Google Shape;183;p6"/>
          <p:cNvSpPr txBox="1"/>
          <p:nvPr/>
        </p:nvSpPr>
        <p:spPr>
          <a:xfrm>
            <a:off x="8001000" y="416052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AI recall change</a:t>
            </a:r>
            <a:endParaRPr/>
          </a:p>
        </p:txBody>
      </p:sp>
      <p:sp>
        <p:nvSpPr>
          <p:cNvPr id="184" name="Google Shape;184;p6"/>
          <p:cNvSpPr txBox="1"/>
          <p:nvPr/>
        </p:nvSpPr>
        <p:spPr>
          <a:xfrm>
            <a:off x="8001000" y="457200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−18.33 percentage points</a:t>
            </a:r>
            <a:endParaRPr/>
          </a:p>
        </p:txBody>
      </p:sp>
      <p:sp>
        <p:nvSpPr>
          <p:cNvPr id="185" name="Google Shape;185;p6"/>
          <p:cNvSpPr txBox="1"/>
          <p:nvPr/>
        </p:nvSpPr>
        <p:spPr>
          <a:xfrm>
            <a:off x="8001000" y="521208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500">
                <a:solidFill>
                  <a:srgbClr val="323C4B"/>
                </a:solidFill>
              </a:rPr>
              <a:t>FPR: 0.33% in all three conditions.</a:t>
            </a:r>
          </a:p>
          <a:p>
            <a:r>
              <a:rPr sz="1500">
                <a:solidFill>
                  <a:srgbClr val="323C4B"/>
                </a:solidFill>
              </a:rPr>
              <a:t>Human false positives: 1/300 per condition.</a:t>
            </a:r>
          </a:p>
        </p:txBody>
      </p:sp>
      <p:sp>
        <p:nvSpPr>
          <p:cNvPr id="186" name="Google Shape;186;p6"/>
          <p:cNvSpPr txBox="1"/>
          <p:nvPr/>
        </p:nvSpPr>
        <p:spPr>
          <a:xfrm>
            <a:off x="530352" y="6547104"/>
            <a:ext cx="9144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AI26501 Modern AI Assignments • Assignment 16 • Group 16</a:t>
            </a:r>
            <a:endParaRPr/>
          </a:p>
        </p:txBody>
      </p:sp>
      <p:sp>
        <p:nvSpPr>
          <p:cNvPr id="187" name="Google Shape;187;p6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pic>
        <p:nvPicPr>
          <p:cNvPr id="188" name="Picture 187" descr="slide6_metrics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34440"/>
            <a:ext cx="7406640" cy="38477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7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6. What changed? Confusion matrices</a:t>
            </a:r>
            <a:endParaRPr/>
          </a:p>
        </p:txBody>
      </p:sp>
      <p:sp>
        <p:nvSpPr>
          <p:cNvPr id="193" name="Google Shape;193;p7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onfusion_matrices.png" id="194" name="Google Shape;19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280160"/>
            <a:ext cx="7772400" cy="272172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7"/>
          <p:cNvSpPr/>
          <p:nvPr/>
        </p:nvSpPr>
        <p:spPr>
          <a:xfrm>
            <a:off x="8503920" y="1600200"/>
            <a:ext cx="2468880" cy="109728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DC82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7"/>
          <p:cNvSpPr txBox="1"/>
          <p:nvPr/>
        </p:nvSpPr>
        <p:spPr>
          <a:xfrm>
            <a:off x="8595360" y="169164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6 → 61</a:t>
            </a:r>
            <a:endParaRPr/>
          </a:p>
        </p:txBody>
      </p:sp>
      <p:sp>
        <p:nvSpPr>
          <p:cNvPr id="197" name="Google Shape;197;p7"/>
          <p:cNvSpPr txBox="1"/>
          <p:nvPr/>
        </p:nvSpPr>
        <p:spPr>
          <a:xfrm>
            <a:off x="8595360" y="2167128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AI passages missed</a:t>
            </a:r>
            <a:endParaRPr/>
          </a:p>
        </p:txBody>
      </p:sp>
      <p:sp>
        <p:nvSpPr>
          <p:cNvPr id="198" name="Google Shape;198;p7"/>
          <p:cNvSpPr/>
          <p:nvPr/>
        </p:nvSpPr>
        <p:spPr>
          <a:xfrm>
            <a:off x="8503920" y="3017520"/>
            <a:ext cx="2468880" cy="1097280"/>
          </a:xfrm>
          <a:prstGeom prst="roundRect">
            <a:avLst>
              <a:gd fmla="val 16667" name="adj"/>
            </a:avLst>
          </a:prstGeom>
          <a:solidFill>
            <a:srgbClr val="F2F6FA"/>
          </a:solidFill>
          <a:ln cap="flat" cmpd="sng" w="9525">
            <a:solidFill>
              <a:srgbClr val="3264B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 txBox="1"/>
          <p:nvPr/>
        </p:nvSpPr>
        <p:spPr>
          <a:xfrm>
            <a:off x="8595360" y="31089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3264B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200" name="Google Shape;200;p7"/>
          <p:cNvSpPr txBox="1"/>
          <p:nvPr/>
        </p:nvSpPr>
        <p:spPr>
          <a:xfrm>
            <a:off x="8595360" y="3584448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Human passages flagged AI</a:t>
            </a:r>
            <a:endParaRPr/>
          </a:p>
        </p:txBody>
      </p:sp>
      <p:sp>
        <p:nvSpPr>
          <p:cNvPr id="201" name="Google Shape;201;p7"/>
          <p:cNvSpPr txBox="1"/>
          <p:nvPr/>
        </p:nvSpPr>
        <p:spPr>
          <a:xfrm>
            <a:off x="8275320" y="4434840"/>
            <a:ext cx="32004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Original and surface-edited counts were identical.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Paraphrasing added 55 false negatives.</a:t>
            </a:r>
            <a:endParaRPr/>
          </a:p>
        </p:txBody>
      </p:sp>
      <p:sp>
        <p:nvSpPr>
          <p:cNvPr id="202" name="Google Shape;202;p7"/>
          <p:cNvSpPr txBox="1"/>
          <p:nvPr/>
        </p:nvSpPr>
        <p:spPr>
          <a:xfrm>
            <a:off x="530352" y="6547104"/>
            <a:ext cx="914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7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8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7. Source-level results</a:t>
            </a:r>
            <a:endParaRPr/>
          </a:p>
        </p:txBody>
      </p:sp>
      <p:sp>
        <p:nvSpPr>
          <p:cNvPr id="209" name="Google Shape;209;p8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ource_recall.png" id="210" name="Google Shape;21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280160"/>
            <a:ext cx="7132320" cy="38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8"/>
          <p:cNvSpPr txBox="1"/>
          <p:nvPr/>
        </p:nvSpPr>
        <p:spPr>
          <a:xfrm>
            <a:off x="7772400" y="1417320"/>
            <a:ext cx="3749039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6"/>
                </a:solidFill>
              </a:rPr>
              <a:t>AI recall (AI passages per source):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6"/>
                </a:solidFill>
              </a:rPr>
              <a:t>Finance (n=38): 100% → 78.95%.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6"/>
                </a:solidFill>
              </a:rPr>
              <a:t>Reddit ELI5 (n=222): 97.75% → 77.93%.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6"/>
                </a:solidFill>
              </a:rPr>
              <a:t>Open QA (n=22): 95.45% → 86.36%.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6"/>
                </a:solidFill>
              </a:rPr>
              <a:t>Medicine (n=15): unchanged in this sample.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6"/>
                </a:solidFill>
              </a:rPr>
              <a:t>Wiki CSAI (n=3): 66.67% after paraphrasing.</a:t>
            </a:r>
          </a:p>
        </p:txBody>
      </p:sp>
      <p:sp>
        <p:nvSpPr>
          <p:cNvPr id="212" name="Google Shape;212;p8"/>
          <p:cNvSpPr txBox="1"/>
          <p:nvPr/>
        </p:nvSpPr>
        <p:spPr>
          <a:xfrm>
            <a:off x="7818120" y="56235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Unequal and small groups require caution.</a:t>
            </a:r>
            <a:endParaRPr/>
          </a:p>
        </p:txBody>
      </p:sp>
      <p:sp>
        <p:nvSpPr>
          <p:cNvPr id="213" name="Google Shape;213;p8"/>
          <p:cNvSpPr txBox="1"/>
          <p:nvPr/>
        </p:nvSpPr>
        <p:spPr>
          <a:xfrm>
            <a:off x="530352" y="6547104"/>
            <a:ext cx="914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8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9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8. Failure cases &amp; limitations</a:t>
            </a:r>
            <a:endParaRPr/>
          </a:p>
        </p:txBody>
      </p:sp>
      <p:sp>
        <p:nvSpPr>
          <p:cNvPr id="220" name="Google Shape;220;p9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777240" y="137160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DC8228"/>
                </a:solidFill>
                <a:latin typeface="Arial"/>
                <a:ea typeface="Arial"/>
                <a:cs typeface="Arial"/>
                <a:sym typeface="Arial"/>
              </a:rPr>
              <a:t>Observed paraphrase quality issues</a:t>
            </a:r>
            <a:endParaRPr/>
          </a:p>
        </p:txBody>
      </p:sp>
      <p:sp>
        <p:nvSpPr>
          <p:cNvPr id="222" name="Google Shape;222;p9"/>
          <p:cNvSpPr txBox="1"/>
          <p:nvPr/>
        </p:nvSpPr>
        <p:spPr>
          <a:xfrm>
            <a:off x="777240" y="1783080"/>
            <a:ext cx="502920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One output changed the 1 GHz processor example into an incorrect calculation claim.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Another changed an apple example to pencils, creating an inconsistency.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Some outputs removed important qualifications or numerical details.</a:t>
            </a:r>
            <a:endParaRPr/>
          </a:p>
        </p:txBody>
      </p:sp>
      <p:sp>
        <p:nvSpPr>
          <p:cNvPr id="223" name="Google Shape;223;p9"/>
          <p:cNvSpPr txBox="1"/>
          <p:nvPr/>
        </p:nvSpPr>
        <p:spPr>
          <a:xfrm>
            <a:off x="6217920" y="137160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264B4"/>
                </a:solidFill>
                <a:latin typeface="Arial"/>
                <a:ea typeface="Arial"/>
                <a:cs typeface="Arial"/>
                <a:sym typeface="Arial"/>
              </a:rPr>
              <a:t>Study limitations</a:t>
            </a:r>
            <a:endParaRPr/>
          </a:p>
        </p:txBody>
      </p:sp>
      <p:sp>
        <p:nvSpPr>
          <p:cNvPr id="224" name="Google Shape;224;p9"/>
          <p:cNvSpPr txBox="1"/>
          <p:nvPr/>
        </p:nvSpPr>
        <p:spPr>
          <a:xfrm>
            <a:off x="6217920" y="1783080"/>
            <a:ext cx="502920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Only 300 paired held-out questions were evaluated.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Paraphrases were not all meaning-preserving.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Reddit ELI5 dominates; source counts are uneven.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8303C"/>
                </a:solidFill>
                <a:latin typeface="Arial"/>
                <a:ea typeface="Arial"/>
                <a:cs typeface="Arial"/>
                <a:sym typeface="Arial"/>
              </a:rPr>
              <a:t>Only one classical detector and one paraphraser were tested.</a:t>
            </a: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777240" y="557784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42341"/>
                </a:solidFill>
                <a:latin typeface="Arial"/>
                <a:ea typeface="Arial"/>
                <a:cs typeface="Arial"/>
                <a:sym typeface="Arial"/>
              </a:rPr>
              <a:t>This measures robustness to generated paraphraser outputs, not exclusively meaning-preserving paraphrases.</a:t>
            </a:r>
            <a:endParaRPr/>
          </a:p>
        </p:txBody>
      </p:sp>
      <p:sp>
        <p:nvSpPr>
          <p:cNvPr id="226" name="Google Shape;226;p9"/>
          <p:cNvSpPr txBox="1"/>
          <p:nvPr/>
        </p:nvSpPr>
        <p:spPr>
          <a:xfrm>
            <a:off x="530352" y="6547104"/>
            <a:ext cx="914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9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341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0"/>
          <p:cNvSpPr txBox="1"/>
          <p:nvPr/>
        </p:nvSpPr>
        <p:spPr>
          <a:xfrm>
            <a:off x="731520" y="4114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9. Conclusion &amp; future work</a:t>
            </a:r>
            <a:endParaRPr/>
          </a:p>
        </p:txBody>
      </p:sp>
      <p:sp>
        <p:nvSpPr>
          <p:cNvPr id="233" name="Google Shape;233;p10"/>
          <p:cNvSpPr txBox="1"/>
          <p:nvPr/>
        </p:nvSpPr>
        <p:spPr>
          <a:xfrm>
            <a:off x="777240" y="128016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78DCD2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/>
          </a:p>
        </p:txBody>
      </p:sp>
      <p:sp>
        <p:nvSpPr>
          <p:cNvPr id="234" name="Google Shape;234;p10"/>
          <p:cNvSpPr txBox="1"/>
          <p:nvPr/>
        </p:nvSpPr>
        <p:spPr>
          <a:xfrm>
            <a:off x="822960" y="1691640"/>
            <a:ext cx="10332600" cy="10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D3746"/>
                </a:solidFill>
              </a:rPr>
              <a:t>In this HC3 sample, original AI recall was 98.00%; the tested surface edits did not measurably change performance.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D3746"/>
                </a:solidFill>
              </a:rPr>
              <a:t>Semantic paraphraser outputs reduced recall to 79.67% (−18.33 pp); false negatives rose from 6 to 61.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D3746"/>
                </a:solidFill>
              </a:rPr>
              <a:t>This is evidence about this detector, dataset, and paraphrasing process—not all AI detectors or all meaning-preserving rewrites.</a:t>
            </a:r>
          </a:p>
        </p:txBody>
      </p:sp>
      <p:sp>
        <p:nvSpPr>
          <p:cNvPr id="235" name="Google Shape;235;p10"/>
          <p:cNvSpPr txBox="1"/>
          <p:nvPr/>
        </p:nvSpPr>
        <p:spPr>
          <a:xfrm>
            <a:off x="777240" y="406908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78DCD2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/>
          </a:p>
        </p:txBody>
      </p:sp>
      <p:sp>
        <p:nvSpPr>
          <p:cNvPr id="236" name="Google Shape;236;p10"/>
          <p:cNvSpPr txBox="1"/>
          <p:nvPr/>
        </p:nvSpPr>
        <p:spPr>
          <a:xfrm>
            <a:off x="822960" y="4480560"/>
            <a:ext cx="10332600" cy="9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8303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Human-review paraphrases; report raw and quality-filtered results.</a:t>
            </a:r>
            <a:endParaRPr>
              <a:highlight>
                <a:schemeClr val="lt1"/>
              </a:highlight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8303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Expand and balance the sample; test more detectors and paraphrasers.</a:t>
            </a:r>
            <a:endParaRPr>
              <a:highlight>
                <a:schemeClr val="lt1"/>
              </a:highlight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8303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Evaluate additional domains, human edits, and model confidence.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237" name="Google Shape;237;p10"/>
          <p:cNvSpPr txBox="1"/>
          <p:nvPr/>
        </p:nvSpPr>
        <p:spPr>
          <a:xfrm>
            <a:off x="822960" y="6400800"/>
            <a:ext cx="1051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0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F6978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