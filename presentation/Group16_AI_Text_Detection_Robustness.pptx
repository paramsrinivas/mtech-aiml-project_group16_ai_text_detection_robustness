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3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9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A0D2DC"/>
                </a:solidFill>
                <a:latin typeface="Aptos"/>
              </a:defRPr>
            </a:pPr>
            <a:r>
              <a:t>AI26501 • MODERN AI ASSIGNMENTS • SP-2026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332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3100" b="1">
                <a:solidFill>
                  <a:srgbClr val="FFFFFF"/>
                </a:solidFill>
                <a:latin typeface="Aptos"/>
              </a:defRPr>
            </a:pPr>
            <a:r>
              <a:t>Robustness of AI-Text Detection</a:t>
            </a:r>
          </a:p>
          <a:p>
            <a:pPr>
              <a:spcAft>
                <a:spcPts val="500"/>
              </a:spcAft>
              <a:defRPr sz="3100" b="1">
                <a:solidFill>
                  <a:srgbClr val="FFFFFF"/>
                </a:solidFill>
                <a:latin typeface="Aptos"/>
              </a:defRPr>
            </a:pPr>
            <a:r>
              <a:t>Under Text Editing and Paraphrasing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03320"/>
            <a:ext cx="9875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D7E1EE"/>
                </a:solidFill>
                <a:latin typeface="Aptos"/>
              </a:defRPr>
            </a:pPr>
            <a:r>
              <a:t>Assignment 16 | Group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709160"/>
            <a:ext cx="9875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BEC8D7"/>
                </a:solidFill>
                <a:latin typeface="Aptos"/>
              </a:defRPr>
            </a:pPr>
            <a:r>
              <a:t>Presenter/team names: add before submission</a:t>
            </a:r>
          </a:p>
          <a:p>
            <a:pPr>
              <a:spcAft>
                <a:spcPts val="500"/>
              </a:spcAft>
              <a:defRPr sz="1400" b="0">
                <a:solidFill>
                  <a:srgbClr val="BEC8D7"/>
                </a:solidFill>
                <a:latin typeface="Aptos"/>
              </a:defRPr>
            </a:pPr>
            <a:r>
              <a:t>Submission date: 05 October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1722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96AAC3"/>
                </a:solidFill>
                <a:latin typeface="Aptos"/>
              </a:defRPr>
            </a:pPr>
            <a:r>
              <a:t>Research mini-project • Text classification • Robustness evaluation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600" b="1">
                <a:solidFill>
                  <a:srgbClr val="142341"/>
                </a:solidFill>
                <a:latin typeface="Aptos"/>
              </a:defRPr>
            </a:pPr>
            <a:r>
              <a:t>1. Real-world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978"/>
                </a:solidFill>
                <a:latin typeface="Aptos"/>
              </a:defRPr>
            </a:pPr>
            <a:r>
              <a:t>Why robustness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78992"/>
            <a:ext cx="914400" cy="54864"/>
          </a:xfrm>
          <a:prstGeom prst="rect">
            <a:avLst/>
          </a:prstGeom>
          <a:solidFill>
            <a:srgbClr val="009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6400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8303C"/>
                </a:solidFill>
                <a:latin typeface="Aptos"/>
              </a:defRPr>
            </a:pPr>
            <a:r>
              <a:t>AI-generated text can be lightly edited or paraphrased before publication.</a:t>
            </a:r>
          </a:p>
          <a:p>
            <a:pPr>
              <a:spcAft>
                <a:spcPts val="1000"/>
              </a:spcAft>
              <a:defRPr sz="1700">
                <a:solidFill>
                  <a:srgbClr val="28303C"/>
                </a:solidFill>
                <a:latin typeface="Aptos"/>
              </a:defRPr>
            </a:pPr>
            <a:r>
              <a:t>A detector that performs well on untouched text may rely on surface patterns rather than stable signals.</a:t>
            </a:r>
          </a:p>
          <a:p>
            <a:pPr>
              <a:spcAft>
                <a:spcPts val="1000"/>
              </a:spcAft>
              <a:defRPr sz="1700">
                <a:solidFill>
                  <a:srgbClr val="28303C"/>
                </a:solidFill>
                <a:latin typeface="Aptos"/>
              </a:defRPr>
            </a:pPr>
            <a:r>
              <a:t>False positives can wrongly label human writing; false negatives can let AI-generated text pass undetected.</a:t>
            </a:r>
          </a:p>
          <a:p>
            <a:pPr>
              <a:spcAft>
                <a:spcPts val="1000"/>
              </a:spcAft>
              <a:defRPr sz="1700">
                <a:solidFill>
                  <a:srgbClr val="28303C"/>
                </a:solidFill>
                <a:latin typeface="Aptos"/>
              </a:defRPr>
            </a:pPr>
            <a:r>
              <a:t>This experiment tests one classical text classifier under controlled text transformations.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1600200"/>
            <a:ext cx="3108960" cy="1188720"/>
          </a:xfrm>
          <a:prstGeom prst="roundRect">
            <a:avLst/>
          </a:prstGeom>
          <a:solidFill>
            <a:srgbClr val="F2F6FA"/>
          </a:solidFill>
          <a:ln>
            <a:solidFill>
              <a:srgbClr val="0091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691640"/>
            <a:ext cx="29260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  <a:defRPr sz="2300" b="1">
                <a:solidFill>
                  <a:srgbClr val="009191"/>
                </a:solidFill>
                <a:latin typeface="Aptos"/>
              </a:defRPr>
            </a:pPr>
            <a:r>
              <a:t>3 conditions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167128"/>
            <a:ext cx="29260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  <a:defRPr sz="1000" b="1">
                <a:solidFill>
                  <a:srgbClr val="5F6978"/>
                </a:solidFill>
                <a:latin typeface="Aptos"/>
              </a:defRPr>
            </a:pPr>
            <a:r>
              <a:t>Original • Surface edit • Paraphrase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3154680"/>
            <a:ext cx="3108960" cy="1188720"/>
          </a:xfrm>
          <a:prstGeom prst="roundRect">
            <a:avLst/>
          </a:prstGeom>
          <a:solidFill>
            <a:srgbClr val="F2F6FA"/>
          </a:solidFill>
          <a:ln>
            <a:solidFill>
              <a:srgbClr val="DC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3246120"/>
            <a:ext cx="29260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  <a:defRPr sz="2300" b="1">
                <a:solidFill>
                  <a:srgbClr val="DC8228"/>
                </a:solidFill>
                <a:latin typeface="Aptos"/>
              </a:defRPr>
            </a:pPr>
            <a:r>
              <a:t>300 pairs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3721608"/>
            <a:ext cx="29260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  <a:defRPr sz="1000" b="1">
                <a:solidFill>
                  <a:srgbClr val="5F6978"/>
                </a:solidFill>
                <a:latin typeface="Aptos"/>
              </a:defRPr>
            </a:pPr>
            <a:r>
              <a:t>Held-out question topics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4709160"/>
            <a:ext cx="3108960" cy="1188720"/>
          </a:xfrm>
          <a:prstGeom prst="roundRect">
            <a:avLst/>
          </a:prstGeom>
          <a:solidFill>
            <a:srgbClr val="F2F6FA"/>
          </a:solidFill>
          <a:ln>
            <a:solidFill>
              <a:srgbClr val="32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4800600"/>
            <a:ext cx="29260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  <a:defRPr sz="2300" b="1">
                <a:solidFill>
                  <a:srgbClr val="3264B4"/>
                </a:solidFill>
                <a:latin typeface="Aptos"/>
              </a:defRPr>
            </a:pPr>
            <a:r>
              <a:t>600 texts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5276088"/>
            <a:ext cx="29260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  <a:defRPr sz="1000" b="1">
                <a:solidFill>
                  <a:srgbClr val="5F6978"/>
                </a:solidFill>
                <a:latin typeface="Aptos"/>
              </a:defRPr>
            </a:pPr>
            <a:r>
              <a:t>Per condition: 300 human + 300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6547104"/>
            <a:ext cx="9144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F6978"/>
                </a:solidFill>
                <a:latin typeface="Aptos"/>
              </a:defRPr>
            </a:pPr>
            <a:r>
              <a:t>AI26501 Modern AI Assignments • Assignment 16 • Group 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F6978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600" b="1">
                <a:solidFill>
                  <a:srgbClr val="142341"/>
                </a:solidFill>
                <a:latin typeface="Aptos"/>
              </a:defRPr>
            </a:pPr>
            <a:r>
              <a:t>2. Research question &amp; hypotheses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078992"/>
            <a:ext cx="914400" cy="54864"/>
          </a:xfrm>
          <a:prstGeom prst="rect">
            <a:avLst/>
          </a:prstGeom>
          <a:solidFill>
            <a:srgbClr val="009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900" b="1">
                <a:solidFill>
                  <a:srgbClr val="009191"/>
                </a:solidFill>
                <a:latin typeface="Aptos"/>
              </a:defRPr>
            </a:pPr>
            <a:r>
              <a:t>Research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42341"/>
                </a:solidFill>
                <a:latin typeface="Aptos"/>
              </a:defRPr>
            </a:pPr>
            <a:r>
              <a:t>How much does AI-text detection change when AI-generated passages are surface-edited or paraphrased?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063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3264B4"/>
                </a:solidFill>
                <a:latin typeface="Aptos"/>
              </a:defRPr>
            </a:pPr>
            <a:r>
              <a:t>H1 — Surface edits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493008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28303C"/>
                </a:solidFill>
                <a:latin typeface="Aptos"/>
              </a:defRPr>
            </a:pPr>
            <a:r>
              <a:t>Small wording/formatting changes may have limited effect if learned patterns remain present.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3063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DC8228"/>
                </a:solidFill>
                <a:latin typeface="Aptos"/>
              </a:defRPr>
            </a:pPr>
            <a:r>
              <a:t>H2 — Semantic paraphrase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3493008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 b="0">
                <a:solidFill>
                  <a:srgbClr val="28303C"/>
                </a:solidFill>
                <a:latin typeface="Aptos"/>
              </a:defRPr>
            </a:pPr>
            <a:r>
              <a:t>Rewriting sentences and structure is expected to reduce recall more than surface editing.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2120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F6978"/>
                </a:solidFill>
                <a:latin typeface="Aptos"/>
              </a:defRPr>
            </a:pPr>
            <a:r>
              <a:t>Primary outcome: AI recall. Supporting outcomes: accuracy, precision, F1-score and false positive rate.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6547104"/>
            <a:ext cx="9144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F6978"/>
                </a:solidFill>
                <a:latin typeface="Aptos"/>
              </a:defRPr>
            </a:pPr>
            <a:r>
              <a:t>AI26501 Modern AI Assignments • Assignment 16 • Group 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F6978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600" b="1">
                <a:solidFill>
                  <a:srgbClr val="142341"/>
                </a:solidFill>
                <a:latin typeface="Aptos"/>
              </a:defRPr>
            </a:pPr>
            <a:r>
              <a:t>3. Dataset &amp; evaluation sample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078992"/>
            <a:ext cx="914400" cy="54864"/>
          </a:xfrm>
          <a:prstGeom prst="rect">
            <a:avLst/>
          </a:prstGeom>
          <a:solidFill>
            <a:srgbClr val="009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371600"/>
            <a:ext cx="2423160" cy="1097280"/>
          </a:xfrm>
          <a:prstGeom prst="roundRect">
            <a:avLst/>
          </a:prstGeom>
          <a:solidFill>
            <a:srgbClr val="F2F6FA"/>
          </a:solidFill>
          <a:ln>
            <a:solidFill>
              <a:srgbClr val="0091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2240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  <a:defRPr sz="2300" b="1">
                <a:solidFill>
                  <a:srgbClr val="009191"/>
                </a:solidFill>
                <a:latin typeface="Aptos"/>
              </a:defRPr>
            </a:pPr>
            <a:r>
              <a:t>HC3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938528"/>
            <a:ext cx="2240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  <a:defRPr sz="1000" b="1">
                <a:solidFill>
                  <a:srgbClr val="5F6978"/>
                </a:solidFill>
                <a:latin typeface="Aptos"/>
              </a:defRPr>
            </a:pPr>
            <a:r>
              <a:t>Human–ChatGPT Comparison Corpus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371600"/>
            <a:ext cx="2423160" cy="1097280"/>
          </a:xfrm>
          <a:prstGeom prst="roundRect">
            <a:avLst/>
          </a:prstGeom>
          <a:solidFill>
            <a:srgbClr val="F2F6FA"/>
          </a:solidFill>
          <a:ln>
            <a:solidFill>
              <a:srgbClr val="32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1463040"/>
            <a:ext cx="2240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  <a:defRPr sz="2300" b="1">
                <a:solidFill>
                  <a:srgbClr val="3264B4"/>
                </a:solidFill>
                <a:latin typeface="Aptos"/>
              </a:defRPr>
            </a:pPr>
            <a:r>
              <a:t>5 sources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1938528"/>
            <a:ext cx="2240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  <a:defRPr sz="1000" b="1">
                <a:solidFill>
                  <a:srgbClr val="5F6978"/>
                </a:solidFill>
                <a:latin typeface="Aptos"/>
              </a:defRPr>
            </a:pPr>
            <a:r>
              <a:t>Finance, Medicine, Open QA, Reddit ELI5, Wiki CSAI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1371600"/>
            <a:ext cx="2423160" cy="1097280"/>
          </a:xfrm>
          <a:prstGeom prst="roundRect">
            <a:avLst/>
          </a:prstGeom>
          <a:solidFill>
            <a:srgbClr val="F2F6FA"/>
          </a:solidFill>
          <a:ln>
            <a:solidFill>
              <a:srgbClr val="DC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1463040"/>
            <a:ext cx="2240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  <a:defRPr sz="2300" b="1">
                <a:solidFill>
                  <a:srgbClr val="DC8228"/>
                </a:solidFill>
                <a:latin typeface="Aptos"/>
              </a:defRPr>
            </a:pPr>
            <a:r>
              <a:t>17,528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1938528"/>
            <a:ext cx="2240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  <a:defRPr sz="1000" b="1">
                <a:solidFill>
                  <a:srgbClr val="5F6978"/>
                </a:solidFill>
                <a:latin typeface="Aptos"/>
              </a:defRPr>
            </a:pPr>
            <a:r>
              <a:t>Training questions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32520" y="1371600"/>
            <a:ext cx="2423160" cy="1097280"/>
          </a:xfrm>
          <a:prstGeom prst="roundRect">
            <a:avLst/>
          </a:prstGeom>
          <a:solidFill>
            <a:srgbClr val="F2F6FA"/>
          </a:solidFill>
          <a:ln>
            <a:solidFill>
              <a:srgbClr val="0091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23960" y="1463040"/>
            <a:ext cx="2240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  <a:defRPr sz="2300" b="1">
                <a:solidFill>
                  <a:srgbClr val="009191"/>
                </a:solidFill>
                <a:latin typeface="Aptos"/>
              </a:defRPr>
            </a:pPr>
            <a:r>
              <a:t>4,383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60" y="1938528"/>
            <a:ext cx="22402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  <a:defRPr sz="1000" b="1">
                <a:solidFill>
                  <a:srgbClr val="5F6978"/>
                </a:solidFill>
                <a:latin typeface="Aptos"/>
              </a:defRPr>
            </a:pPr>
            <a:r>
              <a:t>Held-out questions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880360"/>
            <a:ext cx="104241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28303C"/>
                </a:solidFill>
                <a:latin typeface="Aptos"/>
              </a:defRPr>
            </a:pPr>
            <a:r>
              <a:t>Prepared data were deduplicated and filtered to topics containing both human and AI answers.</a:t>
            </a:r>
          </a:p>
          <a:p>
            <a:pPr>
              <a:spcAft>
                <a:spcPts val="1000"/>
              </a:spcAft>
              <a:defRPr sz="1500">
                <a:solidFill>
                  <a:srgbClr val="28303C"/>
                </a:solidFill>
                <a:latin typeface="Aptos"/>
              </a:defRPr>
            </a:pPr>
            <a:r>
              <a:t>GroupShuffleSplit (test_size=0.20, random_state=42) grouped by topic_id to reduce train/test leakage.</a:t>
            </a:r>
          </a:p>
          <a:p>
            <a:pPr>
              <a:spcAft>
                <a:spcPts val="1000"/>
              </a:spcAft>
              <a:defRPr sz="1500">
                <a:solidFill>
                  <a:srgbClr val="28303C"/>
                </a:solidFill>
                <a:latin typeface="Aptos"/>
              </a:defRPr>
            </a:pPr>
            <a:r>
              <a:t>Final robustness sample: 300 held-out topics, each with one human passage and one AI passage.</a:t>
            </a:r>
          </a:p>
          <a:p>
            <a:pPr>
              <a:spcAft>
                <a:spcPts val="1000"/>
              </a:spcAft>
              <a:defRPr sz="1500">
                <a:solidFill>
                  <a:srgbClr val="28303C"/>
                </a:solidFill>
                <a:latin typeface="Aptos"/>
              </a:defRPr>
            </a:pPr>
            <a:r>
              <a:t>Each condition contains 600 passages: 300 human controls plus 300 AI texts in that condition.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8978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DC8228"/>
                </a:solidFill>
                <a:latin typeface="Aptos"/>
              </a:defRPr>
            </a:pPr>
            <a:r>
              <a:t>Source counts are uneven; Reddit ELI5 dominates the paired sample.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6547104"/>
            <a:ext cx="9144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F6978"/>
                </a:solidFill>
                <a:latin typeface="Aptos"/>
              </a:defRPr>
            </a:pPr>
            <a:r>
              <a:t>AI26501 Modern AI Assignments • Assignment 16 • Group 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F6978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600" b="1">
                <a:solidFill>
                  <a:srgbClr val="142341"/>
                </a:solidFill>
                <a:latin typeface="Aptos"/>
              </a:defRPr>
            </a:pPr>
            <a:r>
              <a:t>4. Methodology &amp; experimental controls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078992"/>
            <a:ext cx="914400" cy="54864"/>
          </a:xfrm>
          <a:prstGeom prst="rect">
            <a:avLst/>
          </a:prstGeom>
          <a:solidFill>
            <a:srgbClr val="009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1965960" cy="1828800"/>
          </a:xfrm>
          <a:prstGeom prst="roundRect">
            <a:avLst/>
          </a:prstGeom>
          <a:solidFill>
            <a:srgbClr val="F2F6FA"/>
          </a:solidFill>
          <a:ln>
            <a:solidFill>
              <a:srgbClr val="0091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965960"/>
            <a:ext cx="1783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142341"/>
                </a:solidFill>
                <a:latin typeface="Aptos"/>
              </a:defRPr>
            </a:pPr>
            <a:r>
              <a:t>1. HC3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2487168"/>
            <a:ext cx="1737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28303C"/>
                </a:solidFill>
                <a:latin typeface="Aptos"/>
              </a:defRPr>
            </a:pPr>
            <a:r>
              <a:t>Deduplicate; retain matched topics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487168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  <a:defRPr sz="2200" b="1">
                <a:solidFill>
                  <a:srgbClr val="009191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39" y="1828800"/>
            <a:ext cx="1965960" cy="1828800"/>
          </a:xfrm>
          <a:prstGeom prst="roundRect">
            <a:avLst/>
          </a:prstGeom>
          <a:solidFill>
            <a:srgbClr val="F2F6FA"/>
          </a:solidFill>
          <a:ln>
            <a:solidFill>
              <a:srgbClr val="32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79" y="1965960"/>
            <a:ext cx="1783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142341"/>
                </a:solidFill>
                <a:latin typeface="Aptos"/>
              </a:defRPr>
            </a:pPr>
            <a:r>
              <a:t>2. Grouped split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44368" y="2487168"/>
            <a:ext cx="1737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28303C"/>
                </a:solidFill>
                <a:latin typeface="Aptos"/>
              </a:defRPr>
            </a:pPr>
            <a:r>
              <a:t>Train/test by topic 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2487168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  <a:defRPr sz="2200" b="1">
                <a:solidFill>
                  <a:srgbClr val="009191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66359" y="1828800"/>
            <a:ext cx="1965960" cy="1828800"/>
          </a:xfrm>
          <a:prstGeom prst="roundRect">
            <a:avLst/>
          </a:prstGeom>
          <a:solidFill>
            <a:srgbClr val="F2F6FA"/>
          </a:solidFill>
          <a:ln>
            <a:solidFill>
              <a:srgbClr val="DC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57799" y="1965960"/>
            <a:ext cx="1783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142341"/>
                </a:solidFill>
                <a:latin typeface="Aptos"/>
              </a:defRPr>
            </a:pPr>
            <a:r>
              <a:t>3. Train detector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76088" y="2487168"/>
            <a:ext cx="1737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28303C"/>
                </a:solidFill>
                <a:latin typeface="Aptos"/>
              </a:defRPr>
            </a:pPr>
            <a:r>
              <a:t>TF–IDF uni/bi-grams + LinearSVC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19" y="2487168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  <a:defRPr sz="2200" b="1">
                <a:solidFill>
                  <a:srgbClr val="009191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1828800"/>
            <a:ext cx="1965960" cy="1828800"/>
          </a:xfrm>
          <a:prstGeom prst="roundRect">
            <a:avLst/>
          </a:prstGeom>
          <a:solidFill>
            <a:srgbClr val="F2F6FA"/>
          </a:solidFill>
          <a:ln>
            <a:solidFill>
              <a:srgbClr val="0091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19" y="1965960"/>
            <a:ext cx="1783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142341"/>
                </a:solidFill>
                <a:latin typeface="Aptos"/>
              </a:defRPr>
            </a:pPr>
            <a:r>
              <a:t>4. Transform AI 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7" y="2487168"/>
            <a:ext cx="1737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28303C"/>
                </a:solidFill>
                <a:latin typeface="Aptos"/>
              </a:defRPr>
            </a:pPr>
            <a:r>
              <a:t>Surface edit or T5 paraphrase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40" y="2487168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  <a:defRPr sz="2200" b="1">
                <a:solidFill>
                  <a:srgbClr val="009191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29800" y="1828800"/>
            <a:ext cx="1965960" cy="1828800"/>
          </a:xfrm>
          <a:prstGeom prst="roundRect">
            <a:avLst/>
          </a:prstGeom>
          <a:solidFill>
            <a:srgbClr val="F2F6FA"/>
          </a:solidFill>
          <a:ln>
            <a:solidFill>
              <a:srgbClr val="32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21240" y="1965960"/>
            <a:ext cx="1783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  <a:defRPr sz="1200" b="1">
                <a:solidFill>
                  <a:srgbClr val="142341"/>
                </a:solidFill>
                <a:latin typeface="Aptos"/>
              </a:defRPr>
            </a:pPr>
            <a:r>
              <a:t>5. Paired evaluation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39528" y="2487168"/>
            <a:ext cx="1737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  <a:defRPr sz="1100" b="0">
                <a:solidFill>
                  <a:srgbClr val="28303C"/>
                </a:solidFill>
                <a:latin typeface="Aptos"/>
              </a:defRPr>
            </a:pPr>
            <a:r>
              <a:t>Same human controls in all conditions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069080"/>
            <a:ext cx="10515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8303C"/>
                </a:solidFill>
                <a:latin typeface="Aptos"/>
              </a:defRPr>
            </a:pPr>
            <a:r>
              <a:t>TF–IDF word unigrams/bigrams + LinearSVC, class_weight=balanced.</a:t>
            </a:r>
          </a:p>
          <a:p>
            <a:pPr>
              <a:spcAft>
                <a:spcPts val="1000"/>
              </a:spcAft>
              <a:defRPr sz="1400">
                <a:solidFill>
                  <a:srgbClr val="28303C"/>
                </a:solidFill>
                <a:latin typeface="Aptos"/>
              </a:defRPr>
            </a:pPr>
            <a:r>
              <a:t>Train only on original training text; edited/paraphrased text used only for held-out evaluation.</a:t>
            </a:r>
          </a:p>
          <a:p>
            <a:pPr>
              <a:spcAft>
                <a:spcPts val="1000"/>
              </a:spcAft>
              <a:defRPr sz="1400">
                <a:solidFill>
                  <a:srgbClr val="28303C"/>
                </a:solidFill>
                <a:latin typeface="Aptos"/>
              </a:defRPr>
            </a:pPr>
            <a:r>
              <a:t>Metrics calculated on combined human + AI passages, not AI-only subsets.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6547104"/>
            <a:ext cx="9144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F6978"/>
                </a:solidFill>
                <a:latin typeface="Aptos"/>
              </a:defRPr>
            </a:pPr>
            <a:r>
              <a:t>AI26501 Modern AI Assignments • Assignment 16 • Group 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F6978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600" b="1">
                <a:solidFill>
                  <a:srgbClr val="142341"/>
                </a:solidFill>
                <a:latin typeface="Aptos"/>
              </a:defRPr>
            </a:pPr>
            <a:r>
              <a:t>5. Results: overall 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F6978"/>
                </a:solidFill>
                <a:latin typeface="Aptos"/>
              </a:defRPr>
            </a:pPr>
            <a:r>
              <a:t>Controlled paired comparison — 600 passages per condition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78992"/>
            <a:ext cx="914400" cy="54864"/>
          </a:xfrm>
          <a:prstGeom prst="rect">
            <a:avLst/>
          </a:prstGeom>
          <a:solidFill>
            <a:srgbClr val="009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etric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7406640" cy="3847732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1554480"/>
          <a:ext cx="365760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14400"/>
                <a:gridCol w="914400"/>
                <a:gridCol w="914400"/>
              </a:tblGrid>
              <a:tr h="56007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303C"/>
                          </a:solidFill>
                          <a:latin typeface="Aptos"/>
                        </a:defRPr>
                      </a:pPr>
                      <a:r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303C"/>
                          </a:solidFill>
                          <a:latin typeface="Aptos"/>
                        </a:defRPr>
                      </a:pPr>
                      <a:r>
                        <a:t>Original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303C"/>
                          </a:solidFill>
                          <a:latin typeface="Aptos"/>
                        </a:defRPr>
                      </a:pPr>
                      <a:r>
                        <a:t>Surface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303C"/>
                          </a:solidFill>
                          <a:latin typeface="Aptos"/>
                        </a:defRPr>
                      </a:pPr>
                      <a:r>
                        <a:t>Paraphrase</a:t>
                      </a:r>
                    </a:p>
                  </a:txBody>
                  <a:tcPr anchor="ctr"/>
                </a:tc>
              </a:tr>
              <a:tr h="56007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303C"/>
                          </a:solidFill>
                          <a:latin typeface="Aptos"/>
                        </a:defRPr>
                      </a:pPr>
                      <a:r>
                        <a:t>Accuracy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303C"/>
                          </a:solidFill>
                          <a:latin typeface="Aptos"/>
                        </a:defRPr>
                      </a:pPr>
                      <a:r>
                        <a:t>98.83%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303C"/>
                          </a:solidFill>
                          <a:latin typeface="Aptos"/>
                        </a:defRPr>
                      </a:pPr>
                      <a:r>
                        <a:t>98.83%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303C"/>
                          </a:solidFill>
                          <a:latin typeface="Aptos"/>
                        </a:defRPr>
                      </a:pPr>
                      <a:r>
                        <a:t>89.67%</a:t>
                      </a:r>
                    </a:p>
                  </a:txBody>
                  <a:tcPr anchor="ctr"/>
                </a:tc>
              </a:tr>
              <a:tr h="56007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303C"/>
                          </a:solidFill>
                          <a:latin typeface="Aptos"/>
                        </a:defRPr>
                      </a:pPr>
                      <a:r>
                        <a:t>AI recall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303C"/>
                          </a:solidFill>
                          <a:latin typeface="Aptos"/>
                        </a:defRPr>
                      </a:pPr>
                      <a:r>
                        <a:t>98.00%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303C"/>
                          </a:solidFill>
                          <a:latin typeface="Aptos"/>
                        </a:defRPr>
                      </a:pPr>
                      <a:r>
                        <a:t>98.00%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303C"/>
                          </a:solidFill>
                          <a:latin typeface="Aptos"/>
                        </a:defRPr>
                      </a:pPr>
                      <a:r>
                        <a:t>79.67%</a:t>
                      </a:r>
                    </a:p>
                  </a:txBody>
                  <a:tcPr anchor="ctr"/>
                </a:tc>
              </a:tr>
              <a:tr h="56007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303C"/>
                          </a:solidFill>
                          <a:latin typeface="Aptos"/>
                        </a:defRPr>
                      </a:pPr>
                      <a:r>
                        <a:t>AI F1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303C"/>
                          </a:solidFill>
                          <a:latin typeface="Aptos"/>
                        </a:defRPr>
                      </a:pPr>
                      <a:r>
                        <a:t>98.82%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303C"/>
                          </a:solidFill>
                          <a:latin typeface="Aptos"/>
                        </a:defRPr>
                      </a:pPr>
                      <a:r>
                        <a:t>98.82%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8303C"/>
                          </a:solidFill>
                          <a:latin typeface="Aptos"/>
                        </a:defRPr>
                      </a:pPr>
                      <a:r>
                        <a:t>88.52%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001000" y="4160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DC8228"/>
                </a:solidFill>
                <a:latin typeface="Aptos"/>
              </a:defRPr>
            </a:pPr>
            <a:r>
              <a:t>AI recall change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457200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DC8228"/>
                </a:solidFill>
                <a:latin typeface="Aptos"/>
              </a:defRPr>
            </a:pPr>
            <a:r>
              <a:t>−18.33 percentage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521208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28303C"/>
                </a:solidFill>
                <a:latin typeface="Aptos"/>
              </a:defRPr>
            </a:pPr>
            <a:r>
              <a:t>False positive rate stayed at 0.33%.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6547104"/>
            <a:ext cx="9144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F6978"/>
                </a:solidFill>
                <a:latin typeface="Aptos"/>
              </a:defRPr>
            </a:pPr>
            <a:r>
              <a:t>AI26501 Modern AI Assignments • Assignment 16 • Group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F6978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600" b="1">
                <a:solidFill>
                  <a:srgbClr val="142341"/>
                </a:solidFill>
                <a:latin typeface="Aptos"/>
              </a:defRPr>
            </a:pPr>
            <a:r>
              <a:t>6. What changed? Confusion matrices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078992"/>
            <a:ext cx="914400" cy="54864"/>
          </a:xfrm>
          <a:prstGeom prst="rect">
            <a:avLst/>
          </a:prstGeom>
          <a:solidFill>
            <a:srgbClr val="009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7772400" cy="272172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503920" y="1600200"/>
            <a:ext cx="2468880" cy="1097280"/>
          </a:xfrm>
          <a:prstGeom prst="roundRect">
            <a:avLst/>
          </a:prstGeom>
          <a:solidFill>
            <a:srgbClr val="F2F6FA"/>
          </a:solidFill>
          <a:ln>
            <a:solidFill>
              <a:srgbClr val="DC8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16916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  <a:defRPr sz="2300" b="1">
                <a:solidFill>
                  <a:srgbClr val="DC8228"/>
                </a:solidFill>
                <a:latin typeface="Aptos"/>
              </a:defRPr>
            </a:pPr>
            <a:r>
              <a:t>6 → 61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216712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  <a:defRPr sz="1000" b="1">
                <a:solidFill>
                  <a:srgbClr val="5F6978"/>
                </a:solidFill>
                <a:latin typeface="Aptos"/>
              </a:defRPr>
            </a:pPr>
            <a:r>
              <a:t>AI passages missed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03920" y="3017520"/>
            <a:ext cx="2468880" cy="1097280"/>
          </a:xfrm>
          <a:prstGeom prst="roundRect">
            <a:avLst/>
          </a:prstGeom>
          <a:solidFill>
            <a:srgbClr val="F2F6FA"/>
          </a:solidFill>
          <a:ln>
            <a:solidFill>
              <a:srgbClr val="32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31089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  <a:defRPr sz="2300" b="1">
                <a:solidFill>
                  <a:srgbClr val="3264B4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358444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  <a:defRPr sz="1000" b="1">
                <a:solidFill>
                  <a:srgbClr val="5F6978"/>
                </a:solidFill>
                <a:latin typeface="Aptos"/>
              </a:defRPr>
            </a:pPr>
            <a:r>
              <a:t>Human passages flagged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4434840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28303C"/>
                </a:solidFill>
                <a:latin typeface="Aptos"/>
              </a:defRPr>
            </a:pPr>
            <a:r>
              <a:t>Original and surface-edited counts were identical.</a:t>
            </a:r>
          </a:p>
          <a:p>
            <a:pPr>
              <a:spcAft>
                <a:spcPts val="1000"/>
              </a:spcAft>
              <a:defRPr sz="1300">
                <a:solidFill>
                  <a:srgbClr val="28303C"/>
                </a:solidFill>
                <a:latin typeface="Aptos"/>
              </a:defRPr>
            </a:pPr>
            <a:r>
              <a:t>Paraphrasing added 55 false negatives.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6547104"/>
            <a:ext cx="9144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F6978"/>
                </a:solidFill>
                <a:latin typeface="Aptos"/>
              </a:defRPr>
            </a:pPr>
            <a:r>
              <a:t>AI26501 Modern AI Assignments • Assignment 16 • Group 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F6978"/>
                </a:solidFill>
                <a:latin typeface="Apto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600" b="1">
                <a:solidFill>
                  <a:srgbClr val="142341"/>
                </a:solidFill>
                <a:latin typeface="Aptos"/>
              </a:defRPr>
            </a:pPr>
            <a:r>
              <a:t>7. Source-level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078992"/>
            <a:ext cx="914400" cy="54864"/>
          </a:xfrm>
          <a:prstGeom prst="rect">
            <a:avLst/>
          </a:prstGeom>
          <a:solidFill>
            <a:srgbClr val="009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ource_re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7132320" cy="38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417320"/>
            <a:ext cx="374903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8303C"/>
                </a:solidFill>
                <a:latin typeface="Aptos"/>
              </a:defRPr>
            </a:pPr>
            <a:r>
              <a:t>Finance recall: 100% → 78.95%.</a:t>
            </a:r>
          </a:p>
          <a:p>
            <a:pPr>
              <a:spcAft>
                <a:spcPts val="1000"/>
              </a:spcAft>
              <a:defRPr sz="1400">
                <a:solidFill>
                  <a:srgbClr val="28303C"/>
                </a:solidFill>
                <a:latin typeface="Aptos"/>
              </a:defRPr>
            </a:pPr>
            <a:r>
              <a:t>Reddit ELI5: 97.75% → 77.93%.</a:t>
            </a:r>
          </a:p>
          <a:p>
            <a:pPr>
              <a:spcAft>
                <a:spcPts val="1000"/>
              </a:spcAft>
              <a:defRPr sz="1400">
                <a:solidFill>
                  <a:srgbClr val="28303C"/>
                </a:solidFill>
                <a:latin typeface="Aptos"/>
              </a:defRPr>
            </a:pPr>
            <a:r>
              <a:t>Open QA: 95.45% → 86.36%.</a:t>
            </a:r>
          </a:p>
          <a:p>
            <a:pPr>
              <a:spcAft>
                <a:spcPts val="1000"/>
              </a:spcAft>
              <a:defRPr sz="1400">
                <a:solidFill>
                  <a:srgbClr val="28303C"/>
                </a:solidFill>
                <a:latin typeface="Aptos"/>
              </a:defRPr>
            </a:pPr>
            <a:r>
              <a:t>Medicine unchanged in this sample.</a:t>
            </a:r>
          </a:p>
          <a:p>
            <a:pPr>
              <a:spcAft>
                <a:spcPts val="1000"/>
              </a:spcAft>
              <a:defRPr sz="1400">
                <a:solidFill>
                  <a:srgbClr val="28303C"/>
                </a:solidFill>
                <a:latin typeface="Aptos"/>
              </a:defRPr>
            </a:pPr>
            <a:r>
              <a:t>Wiki CSAI: 66.67% after paraphrasing, but only 3 AI passages.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5623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DC8228"/>
                </a:solidFill>
                <a:latin typeface="Aptos"/>
              </a:defRPr>
            </a:pPr>
            <a:r>
              <a:t>Unequal and small groups require caution.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47104"/>
            <a:ext cx="9144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F6978"/>
                </a:solidFill>
                <a:latin typeface="Aptos"/>
              </a:defRPr>
            </a:pPr>
            <a:r>
              <a:t>AI26501 Modern AI Assignments • Assignment 16 • Group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F6978"/>
                </a:solidFill>
                <a:latin typeface="Apto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600" b="1">
                <a:solidFill>
                  <a:srgbClr val="142341"/>
                </a:solidFill>
                <a:latin typeface="Aptos"/>
              </a:defRPr>
            </a:pPr>
            <a:r>
              <a:t>8. Failure cases &amp; 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078992"/>
            <a:ext cx="914400" cy="54864"/>
          </a:xfrm>
          <a:prstGeom prst="rect">
            <a:avLst/>
          </a:prstGeom>
          <a:solidFill>
            <a:srgbClr val="009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DC8228"/>
                </a:solidFill>
                <a:latin typeface="Aptos"/>
              </a:defRPr>
            </a:pPr>
            <a:r>
              <a:t>Observed paraphrase quality issues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50292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8303C"/>
                </a:solidFill>
                <a:latin typeface="Aptos"/>
              </a:defRPr>
            </a:pPr>
            <a:r>
              <a:t>One output changed the 1 GHz processor example into an incorrect calculation claim.</a:t>
            </a:r>
          </a:p>
          <a:p>
            <a:pPr>
              <a:spcAft>
                <a:spcPts val="1000"/>
              </a:spcAft>
              <a:defRPr sz="1400">
                <a:solidFill>
                  <a:srgbClr val="28303C"/>
                </a:solidFill>
                <a:latin typeface="Aptos"/>
              </a:defRPr>
            </a:pPr>
            <a:r>
              <a:t>Another changed an apple example to pencils, creating an inconsistency.</a:t>
            </a:r>
          </a:p>
          <a:p>
            <a:pPr>
              <a:spcAft>
                <a:spcPts val="1000"/>
              </a:spcAft>
              <a:defRPr sz="1400">
                <a:solidFill>
                  <a:srgbClr val="28303C"/>
                </a:solidFill>
                <a:latin typeface="Aptos"/>
              </a:defRPr>
            </a:pPr>
            <a:r>
              <a:t>Some outputs removed important qualifications or numerical details.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3264B4"/>
                </a:solidFill>
                <a:latin typeface="Aptos"/>
              </a:defRPr>
            </a:pPr>
            <a:r>
              <a:t>Study 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783080"/>
            <a:ext cx="50292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8303C"/>
                </a:solidFill>
                <a:latin typeface="Aptos"/>
              </a:defRPr>
            </a:pPr>
            <a:r>
              <a:t>Only 300 paired held-out questions were evaluated.</a:t>
            </a:r>
          </a:p>
          <a:p>
            <a:pPr>
              <a:spcAft>
                <a:spcPts val="1000"/>
              </a:spcAft>
              <a:defRPr sz="1400">
                <a:solidFill>
                  <a:srgbClr val="28303C"/>
                </a:solidFill>
                <a:latin typeface="Aptos"/>
              </a:defRPr>
            </a:pPr>
            <a:r>
              <a:t>Paraphrases were not all meaning-preserving.</a:t>
            </a:r>
          </a:p>
          <a:p>
            <a:pPr>
              <a:spcAft>
                <a:spcPts val="1000"/>
              </a:spcAft>
              <a:defRPr sz="1400">
                <a:solidFill>
                  <a:srgbClr val="28303C"/>
                </a:solidFill>
                <a:latin typeface="Aptos"/>
              </a:defRPr>
            </a:pPr>
            <a:r>
              <a:t>Reddit ELI5 dominates; source counts are uneven.</a:t>
            </a:r>
          </a:p>
          <a:p>
            <a:pPr>
              <a:spcAft>
                <a:spcPts val="1000"/>
              </a:spcAft>
              <a:defRPr sz="1400">
                <a:solidFill>
                  <a:srgbClr val="28303C"/>
                </a:solidFill>
                <a:latin typeface="Aptos"/>
              </a:defRPr>
            </a:pPr>
            <a:r>
              <a:t>Only one classical detector and one paraphraser were tested.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5778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142341"/>
                </a:solidFill>
                <a:latin typeface="Aptos"/>
              </a:defRPr>
            </a:pPr>
            <a:r>
              <a:t>This measures robustness to generated paraphraser outputs, not exclusively meaning-preserving paraphrases.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547104"/>
            <a:ext cx="9144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F6978"/>
                </a:solidFill>
                <a:latin typeface="Aptos"/>
              </a:defRPr>
            </a:pPr>
            <a:r>
              <a:t>AI26501 Modern AI Assignments • Assignment 16 • Group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F6978"/>
                </a:solidFill>
                <a:latin typeface="Apto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3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2700" b="1">
                <a:solidFill>
                  <a:srgbClr val="FFFFFF"/>
                </a:solidFill>
                <a:latin typeface="Aptos"/>
              </a:defRPr>
            </a:pPr>
            <a:r>
              <a:t>9. Conclusion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801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78DCD2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10332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28303C"/>
                </a:solidFill>
                <a:latin typeface="Aptos"/>
              </a:defRPr>
            </a:pPr>
            <a:r>
              <a:t>Original AI recall was 98.00%; the tested surface edits did not measurably change performance.</a:t>
            </a:r>
          </a:p>
          <a:p>
            <a:pPr>
              <a:spcAft>
                <a:spcPts val="1000"/>
              </a:spcAft>
              <a:defRPr sz="1500">
                <a:solidFill>
                  <a:srgbClr val="28303C"/>
                </a:solidFill>
                <a:latin typeface="Aptos"/>
              </a:defRPr>
            </a:pPr>
            <a:r>
              <a:t>Semantic paraphrases reduced recall to 79.67% (−18.33 pp); false negatives rose from 6 to 61.</a:t>
            </a:r>
          </a:p>
          <a:p>
            <a:pPr>
              <a:spcAft>
                <a:spcPts val="1000"/>
              </a:spcAft>
              <a:defRPr sz="1500">
                <a:solidFill>
                  <a:srgbClr val="28303C"/>
                </a:solidFill>
                <a:latin typeface="Aptos"/>
              </a:defRPr>
            </a:pPr>
            <a:r>
              <a:t>Strong performance on untouched text did not guarantee robustness to rewriting.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069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 b="1">
                <a:solidFill>
                  <a:srgbClr val="78DCD2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480560"/>
            <a:ext cx="103327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28303C"/>
                </a:solidFill>
                <a:latin typeface="Aptos"/>
              </a:defRPr>
            </a:pPr>
            <a:r>
              <a:t>Human-review paraphrases; report raw and quality-filtered results.</a:t>
            </a:r>
          </a:p>
          <a:p>
            <a:pPr>
              <a:spcAft>
                <a:spcPts val="1000"/>
              </a:spcAft>
              <a:defRPr sz="1300">
                <a:solidFill>
                  <a:srgbClr val="28303C"/>
                </a:solidFill>
                <a:latin typeface="Aptos"/>
              </a:defRPr>
            </a:pPr>
            <a:r>
              <a:t>Expand and balance the sample; test more detectors and paraphrasers.</a:t>
            </a:r>
          </a:p>
          <a:p>
            <a:pPr>
              <a:spcAft>
                <a:spcPts val="1000"/>
              </a:spcAft>
              <a:defRPr sz="1300">
                <a:solidFill>
                  <a:srgbClr val="28303C"/>
                </a:solidFill>
                <a:latin typeface="Aptos"/>
              </a:defRPr>
            </a:pPr>
            <a:r>
              <a:t>Evaluate additional domains, human edits, and model confidence.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10515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BEC8D7"/>
                </a:solidFill>
                <a:latin typeface="Aptos"/>
              </a:defRPr>
            </a:pPr>
            <a:r>
              <a:t>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6547104"/>
            <a:ext cx="9144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800" b="0">
                <a:solidFill>
                  <a:srgbClr val="5F6978"/>
                </a:solidFill>
                <a:latin typeface="Aptos"/>
              </a:defRPr>
            </a:pPr>
            <a:r>
              <a:t>AI26501 Modern AI Assignments • Assignment 16 • Group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10528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  <a:defRPr sz="900" b="0">
                <a:solidFill>
                  <a:srgbClr val="5F6978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