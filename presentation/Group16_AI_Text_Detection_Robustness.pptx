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AI26501 • MODERN AI ASSIGNMENTS • SP-2026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Robustness of AI-Text Detection</a:t>
            </a:r>
          </a:p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Under Text Editing and Paraphrasing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3756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Assignment 16  |  Group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148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Extended evaluation: verified light edits, T5 paraphrases,</a:t>
            </a:r>
          </a:p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and a length-matched truncation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Revised 12 October 2026 • Add presenter names before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Aptos"/>
              </a:defRPr>
            </a:pPr>
            <a:r>
              <a:t>2. Problem and research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320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368"/>
                </a:solidFill>
                <a:latin typeface="Aptos"/>
              </a:defRPr>
            </a:pPr>
            <a:r>
              <a:t>AI26501 • Assignment 16 • Group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F636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4E79"/>
                </a:solidFill>
                <a:latin typeface="Aptos"/>
              </a:defRPr>
            </a:pPr>
            <a:r>
              <a:t>Core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3272A"/>
                </a:solidFill>
                <a:latin typeface="Aptos"/>
              </a:defRPr>
            </a:pPr>
            <a:r>
              <a:t>How much does AI-text detection change when held-out AI passages are edited, paraphrased, or shortened?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4E79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488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3272A"/>
                </a:solidFill>
                <a:latin typeface="Aptos"/>
              </a:defRPr>
            </a:pPr>
            <a:r>
              <a:t>False positives can mislabel human writing. False negatives can let AI-origin text pass undetected. A detector score is not proof of authorship.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51960"/>
            <a:ext cx="283464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4165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  <a:latin typeface="Aptos"/>
              </a:defRPr>
            </a:pPr>
            <a:r>
              <a:t>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19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72A"/>
                </a:solidFill>
                <a:latin typeface="Aptos"/>
              </a:defRPr>
            </a:pPr>
            <a:r>
              <a:t>paired topics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4251960"/>
            <a:ext cx="283464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44165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919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72A"/>
                </a:solidFill>
                <a:latin typeface="Aptos"/>
              </a:defRPr>
            </a:pPr>
            <a:r>
              <a:t>AI conditions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4251960"/>
            <a:ext cx="283464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44165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  <a:latin typeface="Aptos"/>
              </a:defRPr>
            </a:pPr>
            <a:r>
              <a:t>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919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72A"/>
                </a:solidFill>
                <a:latin typeface="Aptos"/>
              </a:defRPr>
            </a:pPr>
            <a:r>
              <a:t>texts per condition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Aptos"/>
              </a:defRPr>
            </a:pPr>
            <a:r>
              <a:t>3. Dataset and leakage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320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368"/>
                </a:solidFill>
                <a:latin typeface="Aptos"/>
              </a:defRPr>
            </a:pPr>
            <a:r>
              <a:t>AI26501 • Assignment 16 • Group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F636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F4E79"/>
                </a:solidFill>
                <a:latin typeface="Aptos"/>
              </a:defRPr>
            </a:pPr>
            <a:r>
              <a:t>HC3 prepared subset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3272A"/>
                </a:solidFill>
                <a:latin typeface="Aptos"/>
              </a:defRPr>
            </a:pPr>
            <a:r>
              <a:t>60,955 training passages</a:t>
            </a:r>
          </a:p>
          <a:p>
            <a:pPr algn="l">
              <a:defRPr sz="1800" b="0">
                <a:solidFill>
                  <a:srgbClr val="23272A"/>
                </a:solidFill>
                <a:latin typeface="Aptos"/>
              </a:defRPr>
            </a:pPr>
            <a:r>
              <a:t>15,157 test passages</a:t>
            </a:r>
          </a:p>
          <a:p>
            <a:pPr algn="l">
              <a:defRPr sz="1800" b="0">
                <a:solidFill>
                  <a:srgbClr val="23272A"/>
                </a:solidFill>
                <a:latin typeface="Aptos"/>
              </a:defRPr>
            </a:pPr>
            <a:r>
              <a:t>17,528 training topics • 4,383 held-out topics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F4E79"/>
                </a:solidFill>
                <a:latin typeface="Aptos"/>
              </a:defRPr>
            </a:pPr>
            <a:r>
              <a:t>Split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3272A"/>
                </a:solidFill>
                <a:latin typeface="Aptos"/>
              </a:defRPr>
            </a:pPr>
            <a:r>
              <a:t>GroupShuffleSplit</a:t>
            </a:r>
          </a:p>
          <a:p>
            <a:pPr algn="l">
              <a:defRPr sz="1800" b="0">
                <a:solidFill>
                  <a:srgbClr val="23272A"/>
                </a:solidFill>
                <a:latin typeface="Aptos"/>
              </a:defRPr>
            </a:pPr>
            <a:r>
              <a:t>Test size = 0.20 • random_state = 42</a:t>
            </a:r>
          </a:p>
          <a:p>
            <a:pPr algn="l">
              <a:defRPr sz="1800" b="0">
                <a:solidFill>
                  <a:srgbClr val="23272A"/>
                </a:solidFill>
                <a:latin typeface="Aptos"/>
              </a:defRPr>
            </a:pPr>
            <a:r>
              <a:t>Grouped by topic_id</a:t>
            </a:r>
          </a:p>
          <a:p>
            <a:pPr algn="l">
              <a:defRPr sz="1800" b="0">
                <a:solidFill>
                  <a:srgbClr val="23272A"/>
                </a:solidFill>
                <a:latin typeface="Aptos"/>
              </a:defRPr>
            </a:pPr>
            <a:r>
              <a:t>Observed train/test topic overlap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72A"/>
                </a:solidFill>
                <a:latin typeface="Aptos"/>
              </a:defRPr>
            </a:pPr>
            <a:r>
              <a:t>Paired sample: 300 held-out topics. Each condition uses the same 300 human controls plus 300 AI texts. Source distribution is imbalanced; Reddit ELI5 dominates.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Aptos"/>
              </a:defRPr>
            </a:pPr>
            <a:r>
              <a:t>4. Conditions and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Aptos"/>
              </a:defRPr>
            </a:pPr>
            <a:r>
              <a:t>Each condition: 300 human controls + 300 AI passages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20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368"/>
                </a:solidFill>
                <a:latin typeface="Aptos"/>
              </a:defRPr>
            </a:pPr>
            <a:r>
              <a:t>AI26501 • Assignment 16 • Group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F63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4E79"/>
                </a:solidFill>
                <a:latin typeface="Aptos"/>
              </a:defRPr>
            </a:pPr>
            <a:r>
              <a:t>Original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41732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72A"/>
                </a:solidFill>
                <a:latin typeface="Aptos"/>
              </a:defRPr>
            </a:pPr>
            <a:r>
              <a:t>Unchanged held-out AI passage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4E79"/>
                </a:solidFill>
                <a:latin typeface="Aptos"/>
              </a:defRPr>
            </a:pPr>
            <a:r>
              <a:t>Legacy 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3172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72A"/>
                </a:solidFill>
                <a:latin typeface="Aptos"/>
              </a:defRPr>
            </a:pPr>
            <a:r>
              <a:t>Phrase-removal function; changed 0/300 passages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4E79"/>
                </a:solidFill>
                <a:latin typeface="Aptos"/>
              </a:defRPr>
            </a:pPr>
            <a:r>
              <a:t>Verified light 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4612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Changed 104/300 passages; mean length ratio 0.999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4E79"/>
                </a:solidFill>
                <a:latin typeface="Aptos"/>
              </a:defRPr>
            </a:pPr>
            <a:r>
              <a:t>T5 paraphrase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16052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Generated rewrite; mean length ratio 0.561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749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4E79"/>
                </a:solidFill>
                <a:latin typeface="Aptos"/>
              </a:defRPr>
            </a:pPr>
            <a:r>
              <a:t>Truncation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07492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Original prefix truncated to paraphrase word count; one shorter original remains unchanged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Aptos"/>
              </a:defRPr>
            </a:pPr>
            <a:r>
              <a:t>5. Detector and evaluation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320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368"/>
                </a:solidFill>
                <a:latin typeface="Aptos"/>
              </a:defRPr>
            </a:pPr>
            <a:r>
              <a:t>AI26501 • Assignment 16 • Group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F636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50876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3619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90472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72A"/>
                </a:solidFill>
                <a:latin typeface="Aptos"/>
              </a:defRPr>
            </a:pPr>
            <a:r>
              <a:t>Prepare HC3 and group topics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33172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59151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313432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72A"/>
                </a:solidFill>
                <a:latin typeface="Aptos"/>
              </a:defRPr>
            </a:pPr>
            <a:r>
              <a:t>Train TF–IDF word uni/bi-grams + LinearSVC on original training text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5468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8211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36392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72A"/>
                </a:solidFill>
                <a:latin typeface="Aptos"/>
              </a:defRPr>
            </a:pPr>
            <a:r>
              <a:t>Apply each edit to held-out AI texts only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977639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0507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959352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72A"/>
                </a:solidFill>
                <a:latin typeface="Aptos"/>
              </a:defRPr>
            </a:pPr>
            <a:r>
              <a:t>Reuse identical human controls across conditions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800600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2803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72A"/>
                </a:solidFill>
                <a:latin typeface="Aptos"/>
              </a:defRPr>
            </a:pPr>
            <a:r>
              <a:t>Report metrics, Wilson CIs, and paired exact McNemar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Aptos"/>
              </a:defRPr>
            </a:pPr>
            <a:r>
              <a:t>6. Results: overall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Aptos"/>
              </a:defRPr>
            </a:pPr>
            <a:r>
              <a:t>Wilson 95% confidence intervals shown in report; paired test results on next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320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368"/>
                </a:solidFill>
                <a:latin typeface="Aptos"/>
              </a:defRPr>
            </a:pPr>
            <a:r>
              <a:t>AI26501 • Assignment 16 • Group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F6368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 recall (FPR = 0.33% in every condition)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14884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Original: 98.00%</a:t>
            </a:r>
          </a:p>
          <a:p>
            <a:r>
              <a:t>Verified light edit: 97.00%</a:t>
            </a:r>
          </a:p>
          <a:p>
            <a:r>
              <a:t>T5 paraphrase: 79.67%</a:t>
            </a:r>
          </a:p>
          <a:p>
            <a:r>
              <a:t>Truncation: 89.33%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48006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368"/>
                </a:solidFill>
                <a:latin typeface="Aptos"/>
              </a:defRPr>
            </a:pPr>
            <a:r>
              <a:t>The legacy edit changed no text and is a no-op diagnostic.</a:t>
            </a:r>
          </a:p>
        </p:txBody>
      </p:sp>
      <p:pic>
        <p:nvPicPr>
          <p:cNvPr id="12" name="Picture 11" descr="extended_metrics_comparison_corr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7589520" cy="41742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Aptos"/>
              </a:defRPr>
            </a:pPr>
            <a:r>
              <a:t>7. Paired changes and statistical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320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368"/>
                </a:solidFill>
                <a:latin typeface="Aptos"/>
              </a:defRPr>
            </a:pPr>
            <a:r>
              <a:t>AI26501 • Assignment 16 • Group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F6368"/>
                </a:solidFill>
                <a:latin typeface="Aptos"/>
              </a:defRPr>
            </a:pPr>
            <a: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6984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66928">
                <a:tc>
                  <a:txBody>
                    <a:bodyPr/>
                    <a:lstStyle/>
                    <a:p>
                      <a:r>
                        <a:t>Paired comparison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Direction of changes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Exact McNemar 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t>Original → light 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detected→missed; 0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 = 0.250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t>Original → T5 paraphrase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 detected→missed; 2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 = 6.14e−15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t>Original → truncation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 detected→missed; 0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 = 2.98e−08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t>Truncation → T5 paraphrase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 detected→missed; 9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 = 2.49e−05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8920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Aptos"/>
              </a:defRPr>
            </a:pPr>
            <a:r>
              <a:t>A paired test assesses prediction changes, not whether paraphrases preserve meaning or whether compression explains all effects.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Aptos"/>
              </a:defRPr>
            </a:pPr>
            <a:r>
              <a:t>8. Length is a confound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320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368"/>
                </a:solidFill>
                <a:latin typeface="Aptos"/>
              </a:defRPr>
            </a:pPr>
            <a:r>
              <a:t>AI26501 • Assignment 16 • Group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F636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4E79"/>
                </a:solidFill>
                <a:latin typeface="Aptos"/>
              </a:defRPr>
            </a:pPr>
            <a:r>
              <a:t>Mean length ratio vs original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T5 paraphrase: 0.561</a:t>
            </a:r>
          </a:p>
          <a:p>
            <a:r>
              <a:t>Truncation control: 0.561</a:t>
            </a:r>
          </a:p>
          <a:p>
            <a:r>
              <a:t>Verified light edit: 0.999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4E79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0574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Truncation reduced recall to 89.33%. T5 paraphrases reduced it further to 79.67%. The paraphrase-versus-truncation paired test was significant (p = 2.49e-5), but the experiment does not isolate a pure semantic effect.</a:t>
            </a:r>
          </a:p>
        </p:txBody>
      </p:sp>
      <p:pic>
        <p:nvPicPr>
          <p:cNvPr id="11" name="Picture 10" descr="extended_recall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160520"/>
            <a:ext cx="6675120" cy="3708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Aptos"/>
              </a:defRPr>
            </a:pPr>
            <a:r>
              <a:t>9. Supplementary larger-sample light-edit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320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368"/>
                </a:solidFill>
                <a:latin typeface="Aptos"/>
              </a:defRPr>
            </a:pPr>
            <a:r>
              <a:t>AI26501 • Assignment 16 • Group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F636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F4E79"/>
                </a:solidFill>
                <a:latin typeface="Aptos"/>
              </a:defRPr>
            </a:pPr>
            <a:r>
              <a:t>All held-out AI passages (n = 4,959)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Original detection: 98.37%</a:t>
            </a:r>
          </a:p>
          <a:p>
            <a:r>
              <a:t>Light-edited detection: 98.02%</a:t>
            </a:r>
          </a:p>
          <a:p>
            <a:r>
              <a:t>17 AI predictions changed</a:t>
            </a:r>
          </a:p>
          <a:p>
            <a:r>
              <a:t>Detection-rate change: −0.34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5544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F4E79"/>
                </a:solidFill>
                <a:latin typeface="Aptos"/>
              </a:defRPr>
            </a:pPr>
            <a:r>
              <a:t>Human-only held-out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488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75/10,198 false positives</a:t>
            </a:r>
          </a:p>
          <a:p>
            <a:r>
              <a:t>FPR = 0.74%</a:t>
            </a:r>
          </a:p>
          <a:p>
            <a:r>
              <a:t>95% Wilson CI ≈ 0.59–0.92%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Aptos"/>
              </a:defRPr>
            </a:pPr>
            <a:r>
              <a:t>This supplementary deterministic edit uses a different procedure and sample from the 300-topic paired pilot. Do not merge the estimates.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F4E79"/>
                </a:solidFill>
                <a:latin typeface="Aptos"/>
              </a:defRPr>
            </a:pPr>
            <a:r>
              <a:t>10. Limitations and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320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368"/>
                </a:solidFill>
                <a:latin typeface="Aptos"/>
              </a:defRPr>
            </a:pPr>
            <a:r>
              <a:t>AI26501 • Assignment 16 • Group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F636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4E79"/>
                </a:solidFill>
                <a:latin typeface="Aptos"/>
              </a:defRPr>
            </a:pPr>
            <a:r>
              <a:t>What the results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Verified light edit: 104/300 passages changed; recall 97.00%; p = 0.25.</a:t>
            </a:r>
          </a:p>
          <a:p>
            <a:r>
              <a:t>• T5 paraphrase: recall 79.67%, below original and truncation.</a:t>
            </a:r>
          </a:p>
          <a:p>
            <a:r>
              <a:t>• Length/compression contributes to the observed drop.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630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4E79"/>
                </a:solidFill>
                <a:latin typeface="Aptos"/>
              </a:defRPr>
            </a:pPr>
            <a:r>
              <a:t>What remains uncertain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72A"/>
                </a:solidFill>
                <a:latin typeface="Aptos"/>
              </a:defRPr>
            </a:pPr>
            <a:r>
              <a:t>• Paraphrase meaning preservation</a:t>
            </a:r>
          </a:p>
          <a:p>
            <a:pPr algn="l">
              <a:defRPr sz="1600" b="0">
                <a:solidFill>
                  <a:srgbClr val="23272A"/>
                </a:solidFill>
                <a:latin typeface="Aptos"/>
              </a:defRPr>
            </a:pPr>
            <a:r>
              <a:t>• Generalization beyond HC3 and this detector</a:t>
            </a:r>
          </a:p>
          <a:p>
            <a:pPr algn="l">
              <a:defRPr sz="1600" b="0">
                <a:solidFill>
                  <a:srgbClr val="23272A"/>
                </a:solidFill>
                <a:latin typeface="Aptos"/>
              </a:defRPr>
            </a:pPr>
            <a:r>
              <a:t>• Source imbalance and small subgroups</a:t>
            </a:r>
          </a:p>
          <a:p>
            <a:pPr algn="l">
              <a:defRPr sz="1600" b="0">
                <a:solidFill>
                  <a:srgbClr val="23272A"/>
                </a:solidFill>
                <a:latin typeface="Aptos"/>
              </a:defRPr>
            </a:pPr>
            <a:r>
              <a:t>• Robustness to human edits and other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63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F4E79"/>
                </a:solidFill>
                <a:latin typeface="Aptos"/>
              </a:defRPr>
            </a:pPr>
            <a:r>
              <a:t>Conclusion: report robustness to these specific transformations, not a universal detector capability.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Aptos"/>
              </a:defRPr>
            </a:pPr>
            <a:r>
              <a:t>References: HC3 (Guo et al., 2023) • Hugging Face paraphraser model • scikit-learn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